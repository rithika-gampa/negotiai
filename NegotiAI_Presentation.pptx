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F3346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3657600" cy="3657600"/>
          </a:xfrm>
          <a:prstGeom prst="ellipse">
            <a:avLst/>
          </a:prstGeom>
          <a:solidFill>
            <a:srgbClr val="163B36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2148840"/>
            <a:ext cx="548640" cy="822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33172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1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Negoti</a:t>
            </a:r>
            <a:pPr indent="0" marL="0">
              <a:buNone/>
            </a:pPr>
            <a:r>
              <a:rPr lang="en-US" sz="6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1F6F5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seller gets an always-on AI agent that negotiates bulk deals for them —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1F6F5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price rules they set once.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5989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QUOTE &amp; NEGOTIATION MARKETPLACE   ·   THEME 3: COMMERCE &amp; CUSTOMER GROWTH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57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217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Businesses still run bulk sales like it's 2005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3 — Commerce &amp; Customer Growth: B2B Digital Sales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4F3F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72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"Businesses struggle to handle quotations, bulk orders, negotiations, and procurement digitally."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5295748" cy="1485900"/>
          </a:xfrm>
          <a:prstGeom prst="roundRect">
            <a:avLst>
              <a:gd name="adj" fmla="val 5538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76200" dist="25400" dir="5400000">
              <a:srgbClr val="17293A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3264408"/>
            <a:ext cx="457200" cy="457200"/>
          </a:xfrm>
          <a:prstGeom prst="ellipse">
            <a:avLst/>
          </a:prstGeom>
          <a:solidFill>
            <a:srgbClr val="17293A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3264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44752" y="3246120"/>
            <a:ext cx="42899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44752" y="3538728"/>
            <a:ext cx="4289908" cy="845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back-and-forth over email/WhatsApp for every bulk order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55868" y="3063240"/>
            <a:ext cx="5295748" cy="1485900"/>
          </a:xfrm>
          <a:prstGeom prst="roundRect">
            <a:avLst>
              <a:gd name="adj" fmla="val 5538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76200" dist="25400" dir="5400000">
              <a:srgbClr val="17293A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57036" y="3264408"/>
            <a:ext cx="457200" cy="457200"/>
          </a:xfrm>
          <a:prstGeom prst="ellipse">
            <a:avLst/>
          </a:prstGeom>
          <a:solidFill>
            <a:srgbClr val="1729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57036" y="3264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💬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60540" y="3246120"/>
            <a:ext cx="42899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060540" y="3538728"/>
            <a:ext cx="4289908" cy="845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structured, auditable way to negotiate at scale; it's ad hoc and slow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869180"/>
            <a:ext cx="5295748" cy="1485900"/>
          </a:xfrm>
          <a:prstGeom prst="roundRect">
            <a:avLst>
              <a:gd name="adj" fmla="val 5538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76200" dist="25400" dir="5400000">
              <a:srgbClr val="17293A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" y="5070348"/>
            <a:ext cx="457200" cy="457200"/>
          </a:xfrm>
          <a:prstGeom prst="ellipse">
            <a:avLst/>
          </a:prstGeom>
          <a:solidFill>
            <a:srgbClr val="17293A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50703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📦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44752" y="5052060"/>
            <a:ext cx="42899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orders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44752" y="5344668"/>
            <a:ext cx="4289908" cy="845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discounts applied inconsistently, hard to track per buyer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55868" y="4869180"/>
            <a:ext cx="5295748" cy="1485900"/>
          </a:xfrm>
          <a:prstGeom prst="roundRect">
            <a:avLst>
              <a:gd name="adj" fmla="val 5538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76200" dist="25400" dir="5400000">
              <a:srgbClr val="17293A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57036" y="5070348"/>
            <a:ext cx="457200" cy="457200"/>
          </a:xfrm>
          <a:prstGeom prst="ellipse">
            <a:avLst/>
          </a:prstGeom>
          <a:solidFill>
            <a:srgbClr val="17293A"/>
          </a:solidFill>
          <a:ln/>
        </p:spPr>
      </p:sp>
      <p:sp>
        <p:nvSpPr>
          <p:cNvPr id="25" name="Text 23"/>
          <p:cNvSpPr/>
          <p:nvPr/>
        </p:nvSpPr>
        <p:spPr>
          <a:xfrm>
            <a:off x="6457036" y="50703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🔗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60540" y="5052060"/>
            <a:ext cx="42899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60540" y="5344668"/>
            <a:ext cx="4289908" cy="845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system connecting RFQ → negotiation → invoice → payment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73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Negoti</a:t>
            </a:r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57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217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NegotiAI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multi-seller marketplace where every product quote is negotiable in plain language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29574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76200" dist="25400" dir="5400000">
              <a:srgbClr val="17293A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35000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350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6F5"/>
                </a:solidFill>
              </a:rPr>
              <a:t>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44752" y="2331720"/>
            <a:ext cx="42899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quotes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44752" y="2624328"/>
            <a:ext cx="428990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browse any seller's catalog and get an itemized quote with bulk-tier discounts applied automatically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55868" y="2148840"/>
            <a:ext cx="529574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76200" dist="25400" dir="5400000">
              <a:srgbClr val="17293A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57036" y="235000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457036" y="2350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6F5"/>
                </a:solidFill>
              </a:rPr>
              <a:t>🤖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60540" y="2331720"/>
            <a:ext cx="42899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negotiation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60540" y="2624328"/>
            <a:ext cx="428990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per-seller agent counters, accepts, or escalates on the seller's behalf, never outside their own margin/discount rules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529574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76200" dist="25400" dir="5400000">
              <a:srgbClr val="17293A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" y="463600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4636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6F5"/>
                </a:solidFill>
              </a:rPr>
              <a:t>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44752" y="4617720"/>
            <a:ext cx="42899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digital lifecycle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44752" y="4910328"/>
            <a:ext cx="428990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 → negotiation → confirmation → invoice → payment tracking → per-buyer ledger, all auditable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55868" y="4434840"/>
            <a:ext cx="529574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76200" dist="25400" dir="5400000">
              <a:srgbClr val="17293A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57036" y="463600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6457036" y="4636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6F5"/>
                </a:solidFill>
              </a:rPr>
              <a:t>🌐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60540" y="4617720"/>
            <a:ext cx="42899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kind of goods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60540" y="4910328"/>
            <a:ext cx="428990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negotiation engine powers stationery, grocery, electricals, furniture, textiles, food service, and packaging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008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73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Negoti</a:t>
            </a:r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57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217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BUYERS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 — Buyer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buyer needs to find, negotiate, and close a bulk order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29574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76200" dist="25400" dir="5400000">
              <a:srgbClr val="17293A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07568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075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6F5"/>
                </a:solidFill>
              </a:rPr>
              <a:t>🗂️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44752" y="2057400"/>
            <a:ext cx="42899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44752" y="2350008"/>
            <a:ext cx="428990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rail and trust-tiered shop badges (New / Verified / Top Negotiator)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55868" y="1874520"/>
            <a:ext cx="529574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76200" dist="25400" dir="5400000">
              <a:srgbClr val="17293A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57036" y="207568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457036" y="2075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6F5"/>
                </a:solidFill>
              </a:rPr>
              <a:t>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60540" y="2020824"/>
            <a:ext cx="428990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itemized quotes with bulk-discount tiers applied automatically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474720"/>
            <a:ext cx="529574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76200" dist="25400" dir="5400000">
              <a:srgbClr val="17293A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" y="367588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3675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6F5"/>
                </a:solidFill>
              </a:rPr>
              <a:t>🔔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44752" y="3621024"/>
            <a:ext cx="428990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Out-of-stock waitlist with a back-in-stock notification the moment it's restocked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5868" y="3474720"/>
            <a:ext cx="529574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76200" dist="25400" dir="5400000">
              <a:srgbClr val="17293A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57036" y="367588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457036" y="3675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6F5"/>
                </a:solidFill>
              </a:rPr>
              <a:t>🤝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60540" y="3657600"/>
            <a:ext cx="42899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hub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60540" y="3950208"/>
            <a:ext cx="428990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for every quote, opener chips, a live savings tracker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74920"/>
            <a:ext cx="529574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76200" dist="25400" dir="5400000">
              <a:srgbClr val="17293A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" y="527608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5276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6F5"/>
                </a:solidFill>
              </a:rPr>
              <a:t>📋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44752" y="5257800"/>
            <a:ext cx="42899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Orders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44752" y="5550408"/>
            <a:ext cx="428990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tracker plus invoice / reorder / message-seller actions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55868" y="5074920"/>
            <a:ext cx="529574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76200" dist="25400" dir="5400000">
              <a:srgbClr val="17293A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57036" y="527608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6457036" y="5276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6F5"/>
                </a:solidFill>
              </a:rPr>
              <a:t>💬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060540" y="5221224"/>
            <a:ext cx="428990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floating AI help chatbot for quick questions about quotes or invoices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008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73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Negoti</a:t>
            </a:r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57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217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SELLERS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 — Seller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seller needs to set the rules and watch the agent work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29574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76200" dist="25400" dir="5400000">
              <a:srgbClr val="17293A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07568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075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6F5"/>
                </a:solidFill>
              </a:rPr>
              <a:t>⚙️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44752" y="2057400"/>
            <a:ext cx="42899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Setup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44752" y="2350008"/>
            <a:ext cx="428990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categories, AI shop description, negotiation rules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55868" y="1874520"/>
            <a:ext cx="529574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76200" dist="25400" dir="5400000">
              <a:srgbClr val="17293A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57036" y="207568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457036" y="2075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6F5"/>
                </a:solidFill>
              </a:rPr>
              <a:t>📌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60540" y="2057400"/>
            <a:ext cx="42899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Pipeline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60540" y="2350008"/>
            <a:ext cx="428990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with new-order, stale-lead, and overdue-payment flags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474720"/>
            <a:ext cx="529574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76200" dist="25400" dir="5400000">
              <a:srgbClr val="17293A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" y="367588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3675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6F5"/>
                </a:solidFill>
              </a:rPr>
              <a:t>📈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44752" y="3657600"/>
            <a:ext cx="42899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Deal Intelligence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44752" y="3950208"/>
            <a:ext cx="428990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rate, margin protected, deal funnel, top product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55868" y="3474720"/>
            <a:ext cx="529574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76200" dist="25400" dir="5400000">
              <a:srgbClr val="17293A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57036" y="367588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6457036" y="3675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6F5"/>
                </a:solidFill>
              </a:rPr>
              <a:t>💰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60540" y="3657600"/>
            <a:ext cx="42899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60540" y="3950208"/>
            <a:ext cx="428990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revenue, outstanding dues, collection-rate gauge, ledger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5074920"/>
            <a:ext cx="529574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76200" dist="25400" dir="5400000">
              <a:srgbClr val="17293A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41248" y="527608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5276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6F5"/>
                </a:solidFill>
              </a:rPr>
              <a:t>🧾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44752" y="5257800"/>
            <a:ext cx="42899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444752" y="5550408"/>
            <a:ext cx="428990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compliance trail, exportable as CSV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55868" y="5074920"/>
            <a:ext cx="529574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76200" dist="25400" dir="5400000">
              <a:srgbClr val="17293A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57036" y="527608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6457036" y="5276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6F5"/>
                </a:solidFill>
              </a:rPr>
              <a:t>🤖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060540" y="5221224"/>
            <a:ext cx="428990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"Ask AI" analyst grounded in the seller's own real numbers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008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73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Negoti</a:t>
            </a:r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2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57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217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SAFE TO LEAVE RUNNING UNATTENDED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Negotiation Agent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1F334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2082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2002536"/>
            <a:ext cx="4224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Hard-bounded by rules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2386584"/>
            <a:ext cx="4681728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approves a discount or term outside the seller's min-margin / max-discount / bulk-tier settings.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6208" y="1874520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1F334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088" y="202082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22008" y="2002536"/>
            <a:ext cx="4224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overshoots the ask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64808" y="2386584"/>
            <a:ext cx="4681728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buyer requests 10% off, it won't unprompted jump to a 12% max — it moves toward what was actually asked.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447288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1F334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5935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3575304"/>
            <a:ext cx="4224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guardrails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68680" y="3959352"/>
            <a:ext cx="4681728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acceptances and bare-number offers that already meet the quote are resolved in code, not left to a model.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36208" y="3447288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1F334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35935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22008" y="3575304"/>
            <a:ext cx="4224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Privacy-aware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64808" y="3959352"/>
            <a:ext cx="4681728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Personalizes replies with the buyer's name, but is explicitly instructed to never disclose contact details or other parties' data.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5020056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1F334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1663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🔁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25880" y="5148072"/>
            <a:ext cx="4224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 fallback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68680" y="5532120"/>
            <a:ext cx="4681728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→ Gemini → Anthropic → xAI, each with a 12s timeout — one provider outage doesn't kill negotiations.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36208" y="5020056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1F334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19088" y="51663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22008" y="5148072"/>
            <a:ext cx="4224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64808" y="5532120"/>
            <a:ext cx="4681728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11-18 sequential DB round trips per turn collapsed to one read + one write — replies dropped from ~6s to ~2-3s.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73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Negoti</a:t>
            </a:r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57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217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NEGOTIATION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Across the Whole App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multi-provider LLM client powers three more assistants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3423818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76200" dist="25400" dir="5400000">
              <a:srgbClr val="17293A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57860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578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6F5"/>
                </a:solidFill>
              </a:rPr>
              <a:t>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44752" y="2560320"/>
            <a:ext cx="24179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description generator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44752" y="2852928"/>
            <a:ext cx="241797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a one-line shop description from the seller's real catalog; they review and edit before saving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3938" y="2377440"/>
            <a:ext cx="3423818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76200" dist="25400" dir="5400000">
              <a:srgbClr val="17293A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85106" y="257860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585106" y="2578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6F5"/>
                </a:solidFill>
              </a:rPr>
              <a:t>📊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88610" y="2560320"/>
            <a:ext cx="24179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"Ask AI" panel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88610" y="2852928"/>
            <a:ext cx="241797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embedded analyst grounded in the seller's real win rate, rules, revenue, ledger, and audit log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27797" y="2377440"/>
            <a:ext cx="3423818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76200" dist="25400" dir="5400000">
              <a:srgbClr val="17293A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8965" y="257860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8328965" y="2578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6F5"/>
                </a:solidFill>
              </a:rPr>
              <a:t>💬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932469" y="2560320"/>
            <a:ext cx="24179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help chatbot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32469" y="2852928"/>
            <a:ext cx="241797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floating assistant that explains quotes/negotiation/invoices and answers questions about the buyer's own orders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73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Negoti</a:t>
            </a:r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57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217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874520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291840" y="1874520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10908792" cy="749808"/>
          </a:xfrm>
          <a:prstGeom prst="rect">
            <a:avLst/>
          </a:prstGeom>
          <a:solidFill>
            <a:srgbClr val="E9F1E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24328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624328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291840" y="262432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accounts, products, rules, deals, messages, audit log, and sessions, all persisting across restarts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374136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3374136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291840" y="3374136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sessions + bcrypt password hashing; role checks enforced server-side on every route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123944"/>
            <a:ext cx="10908792" cy="749808"/>
          </a:xfrm>
          <a:prstGeom prst="rect">
            <a:avLst/>
          </a:prstGeom>
          <a:solidFill>
            <a:srgbClr val="E9F1E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23944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4123944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291840" y="4123944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hand-written as a single app.jsx, precompiled to plain JS at startup — no client bundler, no CDN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4873752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17320" y="4873752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291840" y="4873752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 fallback client — Groq / Gemini / Anthropic / xAI — for negotiation, shop descriptions, and both Ask-AI assistants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623560"/>
            <a:ext cx="10908792" cy="749808"/>
          </a:xfrm>
          <a:prstGeom prst="rect">
            <a:avLst/>
          </a:prstGeom>
          <a:solidFill>
            <a:srgbClr val="E9F1EF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623560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✉️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17320" y="5623560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3291840" y="5623560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 for optional real delivery of password-reset tokens; demo-mode fallback if unconfigured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73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Negoti</a:t>
            </a:r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57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217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 Path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minutes, reviewer-ready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074420" y="2606040"/>
            <a:ext cx="0" cy="914400"/>
          </a:xfrm>
          <a:prstGeom prst="line">
            <a:avLst/>
          </a:prstGeom>
          <a:noFill/>
          <a:ln w="25400">
            <a:solidFill>
              <a:srgbClr val="D8E4E1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554480" y="2029968"/>
            <a:ext cx="99669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2029968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as a buyer → browse the marketplace (try the category rail) → open a shop → request a quote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74420" y="3657600"/>
            <a:ext cx="0" cy="914400"/>
          </a:xfrm>
          <a:prstGeom prst="line">
            <a:avLst/>
          </a:prstGeom>
          <a:noFill/>
          <a:ln w="25400">
            <a:solidFill>
              <a:srgbClr val="D8E4E1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822960" y="31546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54480" y="3081528"/>
            <a:ext cx="99669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83080" y="3081528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Negotiate → click a suggestion chip → send → watch the agent counter with visible reasoning → accept &amp; confirm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74420" y="4709160"/>
            <a:ext cx="0" cy="914400"/>
          </a:xfrm>
          <a:prstGeom prst="line">
            <a:avLst/>
          </a:prstGeom>
          <a:noFill/>
          <a:ln w="25400">
            <a:solidFill>
              <a:srgbClr val="D8E4E1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554480" y="4133088"/>
            <a:ext cx="99669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83080" y="4133088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as that seller (demo123) → Pipeline → open the Negotiation transcript → invoice the deal → mark it paid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" y="52578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257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54480" y="5184648"/>
            <a:ext cx="99669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83080" y="5184648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AI Insights (ask the AI a question about your own numbers), Finance, and the Audit Log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73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Negoti</a:t>
            </a:r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57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217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Scope Notes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real, what's simplified for the demo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29574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76200" dist="25400" dir="5400000">
              <a:srgbClr val="17293A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350008"/>
            <a:ext cx="457200" cy="457200"/>
          </a:xfrm>
          <a:prstGeom prst="ellipse">
            <a:avLst/>
          </a:prstGeom>
          <a:solidFill>
            <a:srgbClr val="17293A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350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📵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44752" y="2331720"/>
            <a:ext cx="42899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disabled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44752" y="2624328"/>
            <a:ext cx="428990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logs in immediately for the demo; the OTP infrastructure is intact and dormant, ready to re-enable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55868" y="2148840"/>
            <a:ext cx="529574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76200" dist="25400" dir="5400000">
              <a:srgbClr val="17293A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57036" y="2350008"/>
            <a:ext cx="457200" cy="457200"/>
          </a:xfrm>
          <a:prstGeom prst="ellipse">
            <a:avLst/>
          </a:prstGeom>
          <a:solidFill>
            <a:srgbClr val="17293A"/>
          </a:solidFill>
          <a:ln/>
        </p:spPr>
      </p:sp>
      <p:sp>
        <p:nvSpPr>
          <p:cNvPr id="13" name="Text 11"/>
          <p:cNvSpPr/>
          <p:nvPr/>
        </p:nvSpPr>
        <p:spPr>
          <a:xfrm>
            <a:off x="6457036" y="2350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60540" y="2331720"/>
            <a:ext cx="42899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badges are real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60540" y="2624328"/>
            <a:ext cx="428990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from actual completed-deal counts; seeded demo sellers are force-verified for convenience only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529574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76200" dist="25400" dir="5400000">
              <a:srgbClr val="17293A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" y="4636008"/>
            <a:ext cx="457200" cy="457200"/>
          </a:xfrm>
          <a:prstGeom prst="ellipse">
            <a:avLst/>
          </a:prstGeom>
          <a:solidFill>
            <a:srgbClr val="17293A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4636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💳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44752" y="4617720"/>
            <a:ext cx="42899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"Mark as paid" is manual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44752" y="4910328"/>
            <a:ext cx="428990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payment-gateway integration, but it does drive the real ledger and revenue numbers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55868" y="4434840"/>
            <a:ext cx="529574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  <a:effectLst>
            <a:outerShdw sx="100000" sy="100000" kx="0" ky="0" algn="bl" rotWithShape="0" blurRad="76200" dist="25400" dir="5400000">
              <a:srgbClr val="17293A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57036" y="4636008"/>
            <a:ext cx="457200" cy="457200"/>
          </a:xfrm>
          <a:prstGeom prst="ellipse">
            <a:avLst/>
          </a:prstGeom>
          <a:solidFill>
            <a:srgbClr val="17293A"/>
          </a:solidFill>
          <a:ln/>
        </p:spPr>
      </p:sp>
      <p:sp>
        <p:nvSpPr>
          <p:cNvPr id="23" name="Text 21"/>
          <p:cNvSpPr/>
          <p:nvPr/>
        </p:nvSpPr>
        <p:spPr>
          <a:xfrm>
            <a:off x="6457036" y="4636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🔃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60540" y="4617720"/>
            <a:ext cx="42899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Polling, not websockets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60540" y="4910328"/>
            <a:ext cx="428990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new-order, message, and back-in-stock updates refresh on a lightweight interval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008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73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Negoti</a:t>
            </a:r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2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2926080"/>
            <a:ext cx="5486400" cy="5486400"/>
          </a:xfrm>
          <a:prstGeom prst="ellipse">
            <a:avLst/>
          </a:prstGeom>
          <a:solidFill>
            <a:srgbClr val="1F3346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2286000"/>
            <a:ext cx="5029200" cy="5029200"/>
          </a:xfrm>
          <a:prstGeom prst="ellipse">
            <a:avLst/>
          </a:prstGeom>
          <a:solidFill>
            <a:srgbClr val="163B36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2331720"/>
            <a:ext cx="548640" cy="822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5146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1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Negoti</a:t>
            </a:r>
            <a:pPr indent="0" marL="0">
              <a:buNone/>
            </a:pPr>
            <a:r>
              <a:rPr lang="en-US" sz="4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4251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6F5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code  ·  Live demo  ·  Full README available in the repository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2026-07-18T05:52:48Z</dcterms:created>
  <dcterms:modified xsi:type="dcterms:W3CDTF">2026-07-18T05:52:48Z</dcterms:modified>
</cp:coreProperties>
</file>